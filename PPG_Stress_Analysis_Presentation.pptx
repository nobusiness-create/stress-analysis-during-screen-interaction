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Heart Rate Trend Across Windows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Rate (BPM)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79.2</c:v>
                </c:pt>
                <c:pt idx="1">
                  <c:v>81.5</c:v>
                </c:pt>
                <c:pt idx="2">
                  <c:v>83.1</c:v>
                </c:pt>
                <c:pt idx="3">
                  <c:v>84</c:v>
                </c:pt>
                <c:pt idx="4">
                  <c:v>82.8</c:v>
                </c:pt>
                <c:pt idx="5">
                  <c:v>83.5</c:v>
                </c:pt>
                <c:pt idx="6">
                  <c:v>82.1</c:v>
                </c:pt>
                <c:pt idx="7">
                  <c:v>80.900000000000006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25C-41C8-B3A6-ED597B26D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HRV Metrics — Social Media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D0-4AE7-B861-CE7BA309399A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D0-4AE7-B861-CE7BA309399A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D0-4AE7-B861-CE7BA30939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SDNN</c:v>
                </c:pt>
                <c:pt idx="1">
                  <c:v>RMSSD</c:v>
                </c:pt>
                <c:pt idx="2">
                  <c:v>pNN50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38.200000000000003</c:v>
                </c:pt>
                <c:pt idx="1">
                  <c:v>29.7</c:v>
                </c:pt>
                <c:pt idx="2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D0-4AE7-B861-CE7BA3093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86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09728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PPG-Based Physiological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Content Classification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86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Biomedical Engineering Project  |  2025–26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MAX30102 + ESP32   |   Signal Processing: MATLAB   |   Monitoring: ThingSpeak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Gopika Prab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"Screen exposure is ubiquitous — but how does content type actually stress your body?"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HRV stress studies ignore the type of screen content being consumed, treating all screen time as equivalent.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606040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gaming, studying and leisure reading produce fundamentally different cognitive and emotional loads.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2606040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those differences using physiological signals — PPG-derived HRV — in a controlled, repeatable experiment.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377440" cy="548640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280160"/>
            <a:ext cx="2377440" cy="54864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377440" cy="5486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Studying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2011680"/>
            <a:ext cx="2377440" cy="5486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Leisure Reading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varied: Exposure Duration &amp; Screen Brightness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5029200" cy="685800"/>
          </a:xfrm>
          <a:prstGeom prst="rect">
            <a:avLst/>
          </a:prstGeom>
          <a:solidFill>
            <a:srgbClr val="E2F4F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46120"/>
            <a:ext cx="73152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461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Screen content type as a primary IV is not standard in existing PPG/HRV stress literature.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822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(Dependent Variables)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0" y="126187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1234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(BPM)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176479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7373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 (ms)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226771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2402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 (ms)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277063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743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pNN50 (%)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327355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32461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LF/HF Ratio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0" y="377647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749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 (0–100)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7373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PPG 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@100 Hz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965960"/>
            <a:ext cx="228600" cy="0"/>
          </a:xfrm>
          <a:prstGeom prst="line">
            <a:avLst/>
          </a:prstGeom>
          <a:noFill/>
          <a:ln w="3175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1097280"/>
            <a:ext cx="1920240" cy="17373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raw IR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USB Serial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965960"/>
            <a:ext cx="228600" cy="0"/>
          </a:xfrm>
          <a:prstGeom prst="line">
            <a:avLst/>
          </a:prstGeom>
          <a:noFill/>
          <a:ln w="3175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97280"/>
            <a:ext cx="1920240" cy="173736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Peaks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HRV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965960"/>
            <a:ext cx="228600" cy="0"/>
          </a:xfrm>
          <a:prstGeom prst="line">
            <a:avLst/>
          </a:prstGeom>
          <a:noFill/>
          <a:ln w="31750">
            <a:solidFill>
              <a:srgbClr val="5EEA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097280"/>
            <a:ext cx="1920240" cy="1737360"/>
          </a:xfrm>
          <a:prstGeom prst="rect">
            <a:avLst/>
          </a:prstGeom>
          <a:solidFill>
            <a:srgbClr val="164E6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logging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832104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File Saved: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154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session_Social_Media_20260516_015225.mat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520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30-second window → HRV computed → logged with condition label, timestamp, all metrics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config: LED brightness 20, 100 Hz sample rate, 411 μs pulse width, 4096 ADC range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4th-order Butterworth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4.0 Hz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zero-phase filtfilt()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640080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6868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332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43560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findpeaks() on filtered PPG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distance: 0.4 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prominence: 0.8×σ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640080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346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Intervals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diff(peak locations) / fs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 validity: 0.4–1.3 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(30–150 BPM range)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640080" cy="182880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8346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Extraction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40156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domain: SDNN, RMSSD, pNN50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domain: spline interp @ 4 Hz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→ LF/HF ratio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Score = clamp(0,100) of  [ (LF/HF × 15) + (50 − RMSSD)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Metrics — What They Measure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3716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77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886968"/>
            <a:ext cx="777240" cy="274320"/>
          </a:xfrm>
          <a:prstGeom prst="rect">
            <a:avLst/>
          </a:prstGeom>
          <a:solidFill>
            <a:srgbClr val="E2F4F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886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Domain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841248"/>
            <a:ext cx="6080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all RR intervals. Represents overall autonomic variability — lower SDNN = higher stress.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45920"/>
            <a:ext cx="1371600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82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1691640"/>
            <a:ext cx="777240" cy="274320"/>
          </a:xfrm>
          <a:prstGeom prst="rect">
            <a:avLst/>
          </a:prstGeom>
          <a:solidFill>
            <a:srgbClr val="E2F4F2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1691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Domain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1645920"/>
            <a:ext cx="6080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of successive RR differences. Captures parasympathetic (vagal) tone. Drops under stress.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45059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50592"/>
            <a:ext cx="1371600" cy="7132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pNN50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496312"/>
            <a:ext cx="777240" cy="274320"/>
          </a:xfrm>
          <a:prstGeom prst="rect">
            <a:avLst/>
          </a:prstGeom>
          <a:solidFill>
            <a:srgbClr val="E2F4F2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2496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Domain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2450592"/>
            <a:ext cx="6080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successive RR pairs differing &gt; 50 ms. Another parasympathetic index; stress drives it toward zero.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55264"/>
            <a:ext cx="1371600" cy="713232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91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LF/HF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300984"/>
            <a:ext cx="777240" cy="274320"/>
          </a:xfrm>
          <a:prstGeom prst="rect">
            <a:avLst/>
          </a:prstGeom>
          <a:solidFill>
            <a:srgbClr val="E2F4F2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3300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06040" y="3255264"/>
            <a:ext cx="6080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(0.04–0.15 Hz) to high-frequency (0.15–0.40 Hz) power ratio. Rises with sympathetic dominance i.e. stress.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0599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059936"/>
            <a:ext cx="137160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65760" y="4443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37360" y="4105656"/>
            <a:ext cx="777240" cy="274320"/>
          </a:xfrm>
          <a:prstGeom prst="rect">
            <a:avLst/>
          </a:prstGeom>
          <a:solidFill>
            <a:srgbClr val="E2F4F2"/>
          </a:solidFill>
          <a:ln/>
        </p:spPr>
      </p:sp>
      <p:sp>
        <p:nvSpPr>
          <p:cNvPr id="37" name="Text 35"/>
          <p:cNvSpPr/>
          <p:nvPr/>
        </p:nvSpPr>
        <p:spPr>
          <a:xfrm>
            <a:off x="1737360" y="41056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06040" y="4059936"/>
            <a:ext cx="6080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combining LF/HF and RMSSD into an intuitive 0–100 scale for live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Social Media Session (16 May 2026)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55448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822960"/>
            <a:ext cx="1554480" cy="12801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914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57400" y="1536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1764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822960"/>
            <a:ext cx="1554480" cy="128016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914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49040" y="1536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764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822960"/>
            <a:ext cx="1554480" cy="1280160"/>
          </a:xfrm>
          <a:prstGeom prst="rect">
            <a:avLst/>
          </a:prstGeom>
          <a:solidFill>
            <a:srgbClr val="164E6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914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40680" y="1536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1764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pNN50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822960"/>
            <a:ext cx="1554480" cy="1280160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914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0" y="1536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1764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LF/HF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365760" y="2331720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1"/>
          <p:cNvGraphicFramePr/>
          <p:nvPr/>
        </p:nvGraphicFramePr>
        <p:xfrm>
          <a:off x="4754880" y="2331720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Monitoring — ThingSpeak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Channel Fields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(BPM)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01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1801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 (ms)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2311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 (ms)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60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72768" y="2660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pNN50 (%)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90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0906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LF/HF Ratio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520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10972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950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950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Condition (1–4)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41148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interval: every 15 s  |  Endpoint: api.thingspeak.com/update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Live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138988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1353312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HR trend chart per window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87452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1837944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 &amp; RMSSD bar updating every window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2359152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2322576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LF/HF ratio time series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2843784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138928" y="2807208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 gauge (0–100)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328416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329184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condition label (e.g. 'Social Media')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81304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5138928" y="3776472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CSV of all logged windows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Stress Ordering (Preliminary)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261872"/>
            <a:ext cx="5943600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1261872"/>
            <a:ext cx="4041648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53328" y="126187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68/100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1947672"/>
            <a:ext cx="5943600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1947672"/>
            <a:ext cx="3685032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476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96712" y="194767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62/100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2633472"/>
            <a:ext cx="5943600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920240" y="2633472"/>
            <a:ext cx="326898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334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0660" y="263347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55/100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20240" y="3319272"/>
            <a:ext cx="5943600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920240" y="3319272"/>
            <a:ext cx="2020824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192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Reading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32504" y="331927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34/100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Patterns?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unpredictable, emotionally loaded content raises sympathetic tone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alertness and competition elevate HR + LF/HF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reading: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low-demand, calm content supports parasympathetic recovery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Single-subject pilot. Stress responses are individual — larger N needed for statistical significance across conditions.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Artifacts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from finger sensor is sensitive to movement. Stabilization / accelerometer rejection not yet implemented.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411480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Stress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LF/HF-based stress formula is a proxy. Clinical validation against gold-standard ECG HRV or cortisol measures is pending.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411480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Environment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004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conditions don't replicate real-world multi-screen or ambient-noise scenarios.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81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Multi-subject study  ·  Wrist PPG  ·  ML classifier for conditions  ·  EDA sensor fusion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2286000" cy="2286000"/>
          </a:xfrm>
          <a:prstGeom prst="ellipse">
            <a:avLst/>
          </a:prstGeom>
          <a:solidFill>
            <a:srgbClr val="5EEAD4">
              <a:alpha val="18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end-to-end PPG stress monitoring system using commodity hardware (MAX30102 + ESP32) and MATLAB.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6479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real-time HRV feature extraction — SDNN, RMSSD, pNN50, LF/HF — with live ThingSpeak cloud upload.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78024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content type is a meaningful independent variable: Social Media and Gaming produced measurably higher stress scores vs Leisure Reading.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1912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 is logged as .mat files per condition, enabling rigorous offline analysis and cross-condition comparison.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0448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extensible: swap in a wrist sensor, add GSR/EDA, or apply a trained ML classifier for automatic condition detection.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MAX30102 + ESP32   |   Software: MATLAB + ThingSpeak   |   Project Year: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927</Words>
  <Application>Microsoft Office PowerPoint</Application>
  <PresentationFormat>On-screen Show (16:9)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PPG-Based Physiological Stress Analysis</dc:title>
  <dc:subject>PptxGenJS Presentation</dc:subject>
  <dc:creator>Gopi</dc:creator>
  <cp:lastModifiedBy>Gopika Gopakumar-[AM.EN.U4ECE25028]</cp:lastModifiedBy>
  <cp:revision>2</cp:revision>
  <dcterms:created xsi:type="dcterms:W3CDTF">2026-05-17T08:06:39Z</dcterms:created>
  <dcterms:modified xsi:type="dcterms:W3CDTF">2026-05-17T09:25:29Z</dcterms:modified>
</cp:coreProperties>
</file>